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프로젝트는 쇼핑 추천 앱이 아니라 MCP tool-use 실험임을 먼저 설명한다.</a:t>
            </a:r>
          </a:p>
          <a:p>
            <a:r>
              <a:t>같은 모델이라도 tool layer가 달라지면 reasoning이 어떻게 달라지는지 관찰했다고 소개한다.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단순 챗봇이면 감성적 추천으로 흐를 수 있다고 설명한다.</a:t>
            </a:r>
          </a:p>
          <a:p>
            <a:r>
              <a:t>실제로는 예산과 기존 키보드 보유 여부가 중요하다고 설명한다.</a:t>
            </a:r>
          </a:p>
          <a:p>
            <a:r>
              <a:t>따라서 grounding용 MCP를 붙였다고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tool-use 흐름을 설명한다.</a:t>
            </a:r>
          </a:p>
          <a:p>
            <a:r>
              <a:t>단순 prompt engineering이 아니라 실제 데이터를 grounding한다고 설명한다.</a:t>
            </a:r>
          </a:p>
          <a:p>
            <a:r>
              <a:t>ReAct 스타일 흐름이라고 간단히 언급할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HHKB reject 사례를 중심으로 설명한다.</a:t>
            </a:r>
          </a:p>
          <a:p>
            <a:r>
              <a:t>기존 키보드가 이미 2개 있다는 점을 강조한다.</a:t>
            </a:r>
          </a:p>
          <a:p>
            <a:r>
              <a:t>USB-C 허브는 실제 문제 상황이라 approve된 점을 비교한다.</a:t>
            </a:r>
          </a:p>
          <a:p>
            <a:r>
              <a:t>constraint-oriented reasoning이라는 표현을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중요한 슬라이드다.</a:t>
            </a:r>
          </a:p>
          <a:p>
            <a:r>
              <a:t>reasoning tone이 달라졌다는 점을 강조한다.</a:t>
            </a:r>
          </a:p>
          <a:p>
            <a:r>
              <a:t>constraint-oriented에서 desire-oriented reasoning으로 변한 것을 설명한다.</a:t>
            </a:r>
          </a:p>
          <a:p>
            <a:r>
              <a:t>tool description과 tool output이 모두 reasoning에 영향을 줬다고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Hermes tool call 장면이라고 설명한다.</a:t>
            </a:r>
          </a:p>
          <a:p>
            <a:r>
              <a:t>tool call 흐름을 짧게 언급한다.</a:t>
            </a:r>
          </a:p>
          <a:p>
            <a:r>
              <a:t>영상은 길게 설명하지 말고 빠르게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orchestration은 보조 실험이라고 설명한다.</a:t>
            </a:r>
          </a:p>
          <a:p>
            <a:r>
              <a:t>Planner+Executor가 가장 안정적이었다고 결론 낸다.</a:t>
            </a:r>
          </a:p>
          <a:p>
            <a:r>
              <a:t>마지막 문장을 발표의 핵심 takeaway로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74519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000000"/>
                </a:solidFill>
                <a:latin typeface="Arial"/>
              </a:rPr>
              <a:t>Wishlist Court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27889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000000"/>
                </a:solidFill>
                <a:latin typeface="Arial"/>
              </a:rPr>
              <a:t>Tool Quality가 LLM Reasoning에 미치는 영향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4251960"/>
            <a:ext cx="7315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생성모델응용</a:t>
            </a:r>
          </a:p>
          <a:p>
            <a:pPr>
              <a:spcAft>
                <a:spcPts val="5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이름: SimonWontae</a:t>
            </a:r>
          </a:p>
          <a:p>
            <a:pPr>
              <a:spcAft>
                <a:spcPts val="500"/>
              </a:spcAft>
              <a:defRPr sz="1700">
                <a:solidFill>
                  <a:srgbClr val="000000"/>
                </a:solidFill>
                <a:latin typeface="Arial"/>
              </a:defRPr>
            </a:pPr>
            <a:r>
              <a:t>날짜: 2026-05-14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000000"/>
                </a:solidFill>
                <a:latin typeface="Arial"/>
              </a:rPr>
              <a:t>왜 Wishlist Court를 만들었는가?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LLM은 그럴듯한 소비 판단을 잘 생성한다.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하지만 실제 예산, 기존 보유품, 구매 맥락을 모르면 쉽게 환각하거나 과소비 방향으로 흐를 수 있다.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따라서 “위시리스트 + 예산 + 보유품”을 읽는 MCP 도구를 붙여 reasoning 변화를 관찰했다.</a:t>
            </a:r>
          </a:p>
          <a:p>
            <a:pPr>
              <a:spcAft>
                <a:spcPts val="1200"/>
              </a:spcAft>
              <a:defRPr sz="2200">
                <a:solidFill>
                  <a:srgbClr val="000000"/>
                </a:solidFill>
                <a:latin typeface="Arial"/>
              </a:defRPr>
            </a:pPr>
            <a:r>
              <a:t>예시 질문: “HHKB 키보드를 사도 될까?”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000000"/>
                </a:solidFill>
                <a:latin typeface="Arial"/>
              </a:rPr>
              <a:t>Wishlist Court MCP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입력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wishlist.csv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owned_items.csv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budget.json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1325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MCP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list_wishlist_items</a:t>
            </a:r>
          </a:p>
          <a:p>
            <a:pPr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get_budget_status</a:t>
            </a:r>
          </a:p>
          <a:p>
            <a:pPr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get_owned_items_by_category</a:t>
            </a:r>
          </a:p>
          <a:p>
            <a:pPr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judge_purchase</a:t>
            </a:r>
          </a:p>
          <a:p>
            <a:pPr>
              <a:spcAft>
                <a:spcPts val="1200"/>
              </a:spcAft>
              <a:defRPr sz="1900">
                <a:solidFill>
                  <a:srgbClr val="000000"/>
                </a:solidFill>
                <a:latin typeface="Arial"/>
              </a:defRPr>
            </a:pPr>
            <a:r>
              <a:t>save_verdict_report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920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000000"/>
                </a:solidFill>
                <a:latin typeface="Arial"/>
              </a:rPr>
              <a:t>wishlist → budget 확인 → 보유품 조회 → 구매 판결 → markdown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000000"/>
                </a:solidFill>
                <a:latin typeface="Arial"/>
              </a:rPr>
              <a:t>LLM이 실제 상태(state)를 읽고 판단하도록 만드는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000000"/>
                </a:solidFill>
                <a:latin typeface="Arial"/>
              </a:rPr>
              <a:t>정상 MCP: Constraint-oriented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HHKB 키보드 → reject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USB-C 허브 → approve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에어팟 맥스 → cooldown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남은 예산: 120,000 KRW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기존 keyboard 보유품 2개 존재, 기존 USB-C 허브 상태 bad, urgency high 반영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정상 MCP는 실제 예산과 보유품을 grounding하여 보수적 판단을 생성했다.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000000"/>
                </a:solidFill>
                <a:latin typeface="Arial"/>
              </a:rPr>
              <a:t>Broken MCP: Reasoning distortion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실패 주입: fake budget, empty owned items, optimistic description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결과: approve 5개, reject 0개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정상 MCP: “예산 초과와 중복 보유 때문에 reject”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Broken MCP: “사용 만족도를 높일 가능성이 있으므로 구매를 긍정적으로 검토”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Broken MCP는 단순한 버그가 아니라 판단 기준 자체를 왜곡했다.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000000"/>
                </a:solidFill>
                <a:latin typeface="Arial"/>
              </a:rPr>
              <a:t>실제 MCP Tool Call 데모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1560" y="1417320"/>
            <a:ext cx="1001268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00000"/>
                </a:solidFill>
                <a:latin typeface="Arial"/>
              </a:rPr>
              <a:t>[여기에 30초 데모 영상 삽입]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1. MCP 등록 확인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2. 정상 MCP 실행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3. tool call 발생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4. verdict 생성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5. broken MCP 실행</a:t>
            </a:r>
          </a:p>
          <a:p>
            <a:pPr>
              <a:spcAft>
                <a:spcPts val="1200"/>
              </a:spcAft>
              <a:defRPr sz="2000">
                <a:solidFill>
                  <a:srgbClr val="000000"/>
                </a:solidFill>
                <a:latin typeface="Arial"/>
              </a:defRPr>
            </a:pPr>
            <a:r>
              <a:t>6. approve 편향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6984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000000"/>
                </a:solidFill>
                <a:latin typeface="Arial"/>
              </a:rPr>
              <a:t>Orchestration 비교와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Single Agent: 가장 빠름, 토큰 효율 좋음, 기준 누락 위험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Planner + Executor: 기준을 먼저 고정, 가장 안정적, 품질 최고</a:t>
            </a:r>
          </a:p>
          <a:p>
            <a:pPr>
              <a:spcAft>
                <a:spcPts val="1200"/>
              </a:spcAft>
              <a:defRPr sz="2100">
                <a:solidFill>
                  <a:srgbClr val="000000"/>
                </a:solidFill>
                <a:latin typeface="Arial"/>
              </a:defRPr>
            </a:pPr>
            <a:r>
              <a:t>Parallel sub-agent: 설명력 풍부, merge overhead 존재, 작은 작업에는 과함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3429000"/>
          <a:ext cx="886968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2011680"/>
                <a:gridCol w="146304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패턴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Tokens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Latency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Quality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Single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4200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18.2s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Planner+Executor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6100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27.5s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Parallel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8900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23.4s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76200" marR="76200">
                    <a:solidFill>
                      <a:srgbClr val="FFFFFF"/>
                    </a:solidFill>
                    <a:lnL w="9525">
                      <a:solidFill>
                        <a:srgbClr val="000000"/>
                      </a:solidFill>
                    </a:lnL>
                    <a:lnR w="9525">
                      <a:solidFill>
                        <a:srgbClr val="000000"/>
                      </a:solidFill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53212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Arial"/>
              </a:rPr>
              <a:t>LLM reasoning은 model 자체보다 tool layer의 quality와 structure에 크게 의존했다.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